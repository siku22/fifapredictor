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atch-predictor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world-cup-simulator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odel-report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21F"/>
        </a:solidFill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321F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Rectangle"/>
          <p:cNvSpPr/>
          <p:nvPr/>
        </p:nvSpPr>
        <p:spPr>
          <a:xfrm>
            <a:off x="411480" y="411480"/>
            <a:ext cx="11384280" cy="6035040"/>
          </a:xfrm>
          <a:prstGeom prst="rect">
            <a:avLst/>
          </a:prstGeom>
          <a:solidFill>
            <a:srgbClr val="0B5D3B"/>
          </a:solidFill>
          <a:ln w="12700">
            <a:solidFill>
              <a:srgbClr val="D6B35A"/>
            </a:solidFill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822960" y="960120"/>
            <a:ext cx="841248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4400" b="1">
                <a:solidFill>
                  <a:srgbClr val="FFFFFF"/>
                </a:solidFill>
                <a:latin typeface="Aptos"/>
              </a:rPr>
              <a:t>Predicting FIFA World Cup Outcomes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868680" y="233172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400">
                <a:solidFill>
                  <a:srgbClr val="DDEFE5"/>
                </a:solidFill>
                <a:latin typeface="Aptos"/>
              </a:rPr>
              <a:t>Using player attributes, team composition, rankings, and match-level analysis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868680" y="5349240"/>
            <a:ext cx="7955279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800" b="1">
                <a:solidFill>
                  <a:srgbClr val="78D6A3"/>
                </a:solidFill>
                <a:latin typeface="Aptos"/>
              </a:rPr>
              <a:t>Senior Capstone | Interactive Streamlit predictor and 2026 simulator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94360" y="41148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0B5D3B"/>
                </a:solidFill>
                <a:latin typeface="Aptos"/>
              </a:rPr>
              <a:t>Research Question</a:t>
            </a:r>
          </a:p>
        </p:txBody>
      </p:sp>
      <p:sp>
        <p:nvSpPr>
          <p:cNvPr id="1" name="Rectangle"/>
          <p:cNvSpPr/>
          <p:nvPr/>
        </p:nvSpPr>
        <p:spPr>
          <a:xfrm>
            <a:off x="594360" y="1143000"/>
            <a:ext cx="6446520" cy="4800600"/>
          </a:xfrm>
          <a:prstGeom prst="rect">
            <a:avLst/>
          </a:prstGeom>
          <a:solidFill>
            <a:srgbClr val="F7FBF6"/>
          </a:solidFill>
          <a:ln w="12700">
            <a:solidFill>
              <a:srgbClr val="C9DDD1"/>
            </a:solidFill>
          </a:ln>
        </p:spPr>
        <p:txBody>
          <a:bodyPr/>
          <a:lstStyle/>
          <a:p/>
        </p:txBody>
      </p:sp>
      <p:sp>
        <p:nvSpPr>
          <p:cNvPr id="3" name="Bullets"/>
          <p:cNvSpPr txBox="1"/>
          <p:nvPr/>
        </p:nvSpPr>
        <p:spPr>
          <a:xfrm>
            <a:off x="822960" y="1417320"/>
            <a:ext cx="5943600" cy="4251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Can player attributes and team composition explain international match outcomes?</a:t>
            </a:r>
          </a:p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Can the same model power a forward-looking 2026 World Cup simulation?</a:t>
            </a:r>
          </a:p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How do multiple model families compare on the same connected feature set?</a:t>
            </a:r>
          </a:p>
        </p:txBody>
      </p:sp>
      <p:sp>
        <p:nvSpPr>
          <p:cNvPr id="1" name="Rectangle"/>
          <p:cNvSpPr/>
          <p:nvPr/>
        </p:nvSpPr>
        <p:spPr>
          <a:xfrm>
            <a:off x="7543800" y="914400"/>
            <a:ext cx="3886200" cy="4892040"/>
          </a:xfrm>
          <a:prstGeom prst="rect">
            <a:avLst/>
          </a:prstGeom>
          <a:solidFill>
            <a:srgbClr val="EAF5EE"/>
          </a:solidFill>
          <a:ln w="12700">
            <a:solidFill>
              <a:srgbClr val="78D6A3"/>
            </a:solidFill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7818120" y="114300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200" b="1">
                <a:solidFill>
                  <a:srgbClr val="102017"/>
                </a:solidFill>
                <a:latin typeface="Aptos"/>
              </a:rPr>
              <a:t>Goal: move from raw football data to an interactive, reproducible prediction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94360" y="41148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0B5D3B"/>
                </a:solidFill>
                <a:latin typeface="Aptos"/>
              </a:rPr>
              <a:t>Data Foundation</a:t>
            </a:r>
          </a:p>
        </p:txBody>
      </p:sp>
      <p:sp>
        <p:nvSpPr>
          <p:cNvPr id="1" name="Rectangle"/>
          <p:cNvSpPr/>
          <p:nvPr/>
        </p:nvSpPr>
        <p:spPr>
          <a:xfrm>
            <a:off x="594360" y="1143000"/>
            <a:ext cx="6446520" cy="4800600"/>
          </a:xfrm>
          <a:prstGeom prst="rect">
            <a:avLst/>
          </a:prstGeom>
          <a:solidFill>
            <a:srgbClr val="F7FBF6"/>
          </a:solidFill>
          <a:ln w="12700">
            <a:solidFill>
              <a:srgbClr val="C9DDD1"/>
            </a:solidFill>
          </a:ln>
        </p:spPr>
        <p:txBody>
          <a:bodyPr/>
          <a:lstStyle/>
          <a:p/>
        </p:txBody>
      </p:sp>
      <p:sp>
        <p:nvSpPr>
          <p:cNvPr id="3" name="Bullets"/>
          <p:cNvSpPr txBox="1"/>
          <p:nvPr/>
        </p:nvSpPr>
        <p:spPr>
          <a:xfrm>
            <a:off x="822960" y="1417320"/>
            <a:ext cx="5943600" cy="4251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FIFA18 player attributes provide player-level strength and position signals.</a:t>
            </a:r>
          </a:p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International match results provide outcomes and goal difference.</a:t>
            </a:r>
          </a:p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FIFA rankings add external performance context.</a:t>
            </a:r>
          </a:p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World Cup history supports tournament-success modeling.</a:t>
            </a:r>
          </a:p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2026 group data powers the simulator.</a:t>
            </a:r>
          </a:p>
        </p:txBody>
      </p:sp>
      <p:sp>
        <p:nvSpPr>
          <p:cNvPr id="1" name="Rectangle"/>
          <p:cNvSpPr/>
          <p:nvPr/>
        </p:nvSpPr>
        <p:spPr>
          <a:xfrm>
            <a:off x="7543800" y="914400"/>
            <a:ext cx="3886200" cy="4892040"/>
          </a:xfrm>
          <a:prstGeom prst="rect">
            <a:avLst/>
          </a:prstGeom>
          <a:solidFill>
            <a:srgbClr val="EAF5EE"/>
          </a:solidFill>
          <a:ln w="12700">
            <a:solidFill>
              <a:srgbClr val="78D6A3"/>
            </a:solidFill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7818120" y="114300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200" b="1">
                <a:solidFill>
                  <a:srgbClr val="102017"/>
                </a:solidFill>
                <a:latin typeface="Aptos"/>
              </a:rPr>
              <a:t>Key limitation: possession, shots, fouls, and exact 2018 squad files are not present locally.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94360" y="41148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0B5D3B"/>
                </a:solidFill>
                <a:latin typeface="Aptos"/>
              </a:rPr>
              <a:t>Feature Engineering</a:t>
            </a:r>
          </a:p>
        </p:txBody>
      </p:sp>
      <p:sp>
        <p:nvSpPr>
          <p:cNvPr id="1" name="Rectangle"/>
          <p:cNvSpPr/>
          <p:nvPr/>
        </p:nvSpPr>
        <p:spPr>
          <a:xfrm>
            <a:off x="594360" y="1143000"/>
            <a:ext cx="6446520" cy="4800600"/>
          </a:xfrm>
          <a:prstGeom prst="rect">
            <a:avLst/>
          </a:prstGeom>
          <a:solidFill>
            <a:srgbClr val="F7FBF6"/>
          </a:solidFill>
          <a:ln w="12700">
            <a:solidFill>
              <a:srgbClr val="C9DDD1"/>
            </a:solidFill>
          </a:ln>
        </p:spPr>
        <p:txBody>
          <a:bodyPr/>
          <a:lstStyle/>
          <a:p/>
        </p:txBody>
      </p:sp>
      <p:sp>
        <p:nvSpPr>
          <p:cNvPr id="3" name="Bullets"/>
          <p:cNvSpPr txBox="1"/>
          <p:nvPr/>
        </p:nvSpPr>
        <p:spPr>
          <a:xfrm>
            <a:off x="822960" y="1417320"/>
            <a:ext cx="5943600" cy="4251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Player data is aggregated into national-team features.</a:t>
            </a:r>
          </a:p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Features include overall, attack, midfield, defense, goalkeeper, age, balance, player count, elite players, rank, and points.</a:t>
            </a:r>
          </a:p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Match rows use differences between Team A and Team B for consistency.</a:t>
            </a:r>
          </a:p>
        </p:txBody>
      </p:sp>
      <p:sp>
        <p:nvSpPr>
          <p:cNvPr id="1" name="Rectangle"/>
          <p:cNvSpPr/>
          <p:nvPr/>
        </p:nvSpPr>
        <p:spPr>
          <a:xfrm>
            <a:off x="7543800" y="914400"/>
            <a:ext cx="3886200" cy="4892040"/>
          </a:xfrm>
          <a:prstGeom prst="rect">
            <a:avLst/>
          </a:prstGeom>
          <a:solidFill>
            <a:srgbClr val="EAF5EE"/>
          </a:solidFill>
          <a:ln w="12700">
            <a:solidFill>
              <a:srgbClr val="78D6A3"/>
            </a:solidFill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7818120" y="114300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200" b="1">
                <a:solidFill>
                  <a:srgbClr val="102017"/>
                </a:solidFill>
                <a:latin typeface="Aptos"/>
              </a:rPr>
              <a:t>Pipeline: players -&gt; team features -&gt; match differences -&gt; model targets.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94360" y="41148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0B5D3B"/>
                </a:solidFill>
                <a:latin typeface="Aptos"/>
              </a:rPr>
              <a:t>Modeling Tests</a:t>
            </a:r>
          </a:p>
        </p:txBody>
      </p:sp>
      <p:sp>
        <p:nvSpPr>
          <p:cNvPr id="1" name="Rectangle"/>
          <p:cNvSpPr/>
          <p:nvPr/>
        </p:nvSpPr>
        <p:spPr>
          <a:xfrm>
            <a:off x="594360" y="1143000"/>
            <a:ext cx="6446520" cy="4800600"/>
          </a:xfrm>
          <a:prstGeom prst="rect">
            <a:avLst/>
          </a:prstGeom>
          <a:solidFill>
            <a:srgbClr val="F7FBF6"/>
          </a:solidFill>
          <a:ln w="12700">
            <a:solidFill>
              <a:srgbClr val="C9DDD1"/>
            </a:solidFill>
          </a:ln>
        </p:spPr>
        <p:txBody>
          <a:bodyPr/>
          <a:lstStyle/>
          <a:p/>
        </p:txBody>
      </p:sp>
      <p:sp>
        <p:nvSpPr>
          <p:cNvPr id="3" name="Bullets"/>
          <p:cNvSpPr txBox="1"/>
          <p:nvPr/>
        </p:nvSpPr>
        <p:spPr>
          <a:xfrm>
            <a:off x="822960" y="1417320"/>
            <a:ext cx="5943600" cy="4251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Match outcome: Logistic Regression, Random Forest, SVM, Naive Bayes, MLP.</a:t>
            </a:r>
          </a:p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Goal difference: Linear, Ridge, Lasso, Random Forest, SVR, MLP.</a:t>
            </a:r>
          </a:p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Tournament success: Logistic Regression, Decision Tree, Random Forest, MLP.</a:t>
            </a:r>
          </a:p>
        </p:txBody>
      </p:sp>
      <p:sp>
        <p:nvSpPr>
          <p:cNvPr id="1" name="Rectangle"/>
          <p:cNvSpPr/>
          <p:nvPr/>
        </p:nvSpPr>
        <p:spPr>
          <a:xfrm>
            <a:off x="7543800" y="914400"/>
            <a:ext cx="3886200" cy="4892040"/>
          </a:xfrm>
          <a:prstGeom prst="rect">
            <a:avLst/>
          </a:prstGeom>
          <a:solidFill>
            <a:srgbClr val="EAF5EE"/>
          </a:solidFill>
          <a:ln w="12700">
            <a:solidFill>
              <a:srgbClr val="78D6A3"/>
            </a:solidFill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7818120" y="114300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200" b="1">
                <a:solidFill>
                  <a:srgbClr val="102017"/>
                </a:solidFill>
                <a:latin typeface="Aptos"/>
              </a:rPr>
              <a:t>Best match model: SVM</a:t>
            </a:r>
          </a:p>
          <a:p>
            <a:pPr algn="l"/>
            <a:r>
              <a:rPr lang="en-US" sz="2200" b="1">
                <a:solidFill>
                  <a:srgbClr val="102017"/>
                </a:solidFill>
                <a:latin typeface="Aptos"/>
              </a:rPr>
              <a:t>Accuracy: 72.6%</a:t>
            </a:r>
          </a:p>
          <a:p>
            <a:pPr algn="l"/>
            <a:r>
              <a:rPr lang="en-US" sz="2200" b="1">
                <a:solidFill>
                  <a:srgbClr val="102017"/>
                </a:solidFill>
                <a:latin typeface="Aptos"/>
              </a:rPr>
              <a:t>Training rows: 4,951</a:t>
            </a:r>
          </a:p>
          <a:p>
            <a:pPr algn="l"/>
            <a:r>
              <a:rPr lang="en-US" sz="2200" b="1">
                <a:solidFill>
                  <a:srgbClr val="102017"/>
                </a:solidFill>
                <a:latin typeface="Aptos"/>
              </a:rPr>
              <a:t>Tournament rows: 126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0B5D3B"/>
                </a:solidFill>
                <a:latin typeface="Aptos"/>
              </a:rPr>
              <a:t>Match Model Results</a:t>
            </a:r>
          </a:p>
        </p:txBody>
      </p:sp>
      <p:sp>
        <p:nvSpPr>
          <p:cNvPr id="1" name="Rectangle"/>
          <p:cNvSpPr/>
          <p:nvPr/>
        </p:nvSpPr>
        <p:spPr>
          <a:xfrm>
            <a:off x="777240" y="1234440"/>
            <a:ext cx="6217920" cy="4480560"/>
          </a:xfrm>
          <a:prstGeom prst="rect">
            <a:avLst/>
          </a:prstGeom>
          <a:solidFill>
            <a:srgbClr val="F7FBF6"/>
          </a:solidFill>
          <a:ln w="12700">
            <a:solidFill>
              <a:srgbClr val="C9DDD1"/>
            </a:solidFill>
          </a:ln>
        </p:spPr>
        <p:txBody>
          <a:bodyPr/>
          <a:lstStyle/>
          <a:p/>
        </p:txBody>
      </p:sp>
      <p:sp>
        <p:nvSpPr>
          <p:cNvPr id="1" name="Rectangle"/>
          <p:cNvSpPr/>
          <p:nvPr/>
        </p:nvSpPr>
        <p:spPr>
          <a:xfrm>
            <a:off x="1005840" y="1554480"/>
            <a:ext cx="4754880" cy="502920"/>
          </a:xfrm>
          <a:prstGeom prst="rect">
            <a:avLst/>
          </a:prstGeom>
          <a:solidFill>
            <a:srgbClr val="0B5D3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1097280" y="1581912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SVM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5870448" y="1581912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 b="1">
                <a:solidFill>
                  <a:srgbClr val="102017"/>
                </a:solidFill>
                <a:latin typeface="Aptos"/>
              </a:rPr>
              <a:t>72.5%</a:t>
            </a:r>
          </a:p>
        </p:txBody>
      </p:sp>
      <p:sp>
        <p:nvSpPr>
          <p:cNvPr id="1" name="Rectangle"/>
          <p:cNvSpPr/>
          <p:nvPr/>
        </p:nvSpPr>
        <p:spPr>
          <a:xfrm>
            <a:off x="1005840" y="2167128"/>
            <a:ext cx="4709002" cy="502920"/>
          </a:xfrm>
          <a:prstGeom prst="rect">
            <a:avLst/>
          </a:prstGeom>
          <a:solidFill>
            <a:srgbClr val="0B5D3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1097280" y="21945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Naive Bayes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5824570" y="219456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 b="1">
                <a:solidFill>
                  <a:srgbClr val="102017"/>
                </a:solidFill>
                <a:latin typeface="Aptos"/>
              </a:rPr>
              <a:t>71.9%</a:t>
            </a:r>
          </a:p>
        </p:txBody>
      </p:sp>
      <p:sp>
        <p:nvSpPr>
          <p:cNvPr id="1" name="Rectangle"/>
          <p:cNvSpPr/>
          <p:nvPr/>
        </p:nvSpPr>
        <p:spPr>
          <a:xfrm>
            <a:off x="1005840" y="2779776"/>
            <a:ext cx="4655915" cy="502920"/>
          </a:xfrm>
          <a:prstGeom prst="rect">
            <a:avLst/>
          </a:prstGeom>
          <a:solidFill>
            <a:srgbClr val="0B5D3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1097280" y="2807208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Logistic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5771483" y="2807208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 b="1">
                <a:solidFill>
                  <a:srgbClr val="102017"/>
                </a:solidFill>
                <a:latin typeface="Aptos"/>
              </a:rPr>
              <a:t>71.0%</a:t>
            </a:r>
          </a:p>
        </p:txBody>
      </p:sp>
      <p:sp>
        <p:nvSpPr>
          <p:cNvPr id="1" name="Rectangle"/>
          <p:cNvSpPr/>
          <p:nvPr/>
        </p:nvSpPr>
        <p:spPr>
          <a:xfrm>
            <a:off x="1005840" y="3392424"/>
            <a:ext cx="4457331" cy="502920"/>
          </a:xfrm>
          <a:prstGeom prst="rect">
            <a:avLst/>
          </a:prstGeom>
          <a:solidFill>
            <a:srgbClr val="0B5D3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1097280" y="3419856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MLP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5572899" y="341985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 b="1">
                <a:solidFill>
                  <a:srgbClr val="102017"/>
                </a:solidFill>
                <a:latin typeface="Aptos"/>
              </a:rPr>
              <a:t>68.0%</a:t>
            </a:r>
          </a:p>
        </p:txBody>
      </p:sp>
      <p:sp>
        <p:nvSpPr>
          <p:cNvPr id="1" name="Rectangle"/>
          <p:cNvSpPr/>
          <p:nvPr/>
        </p:nvSpPr>
        <p:spPr>
          <a:xfrm>
            <a:off x="1005840" y="4005072"/>
            <a:ext cx="4384582" cy="502920"/>
          </a:xfrm>
          <a:prstGeom prst="rect">
            <a:avLst/>
          </a:prstGeom>
          <a:solidFill>
            <a:srgbClr val="0B5D3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1097280" y="4032504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Random Forest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5500150" y="4032504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 b="1">
                <a:solidFill>
                  <a:srgbClr val="102017"/>
                </a:solidFill>
                <a:latin typeface="Aptos"/>
              </a:rPr>
              <a:t>66.9%</a:t>
            </a:r>
          </a:p>
        </p:txBody>
      </p:sp>
      <p:sp>
        <p:nvSpPr>
          <p:cNvPr id="1" name="Rectangle"/>
          <p:cNvSpPr/>
          <p:nvPr/>
        </p:nvSpPr>
        <p:spPr>
          <a:xfrm>
            <a:off x="1005840" y="4617720"/>
            <a:ext cx="3445403" cy="502920"/>
          </a:xfrm>
          <a:prstGeom prst="rect">
            <a:avLst/>
          </a:prstGeom>
          <a:solidFill>
            <a:srgbClr val="0B5D3B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1097280" y="4645152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ptos"/>
              </a:rPr>
              <a:t>Baseline</a:t>
            </a:r>
          </a:p>
        </p:txBody>
      </p:sp>
      <p:sp>
        <p:nvSpPr>
          <p:cNvPr id="2" name="Text"/>
          <p:cNvSpPr txBox="1"/>
          <p:nvPr/>
        </p:nvSpPr>
        <p:spPr>
          <a:xfrm>
            <a:off x="4560971" y="4645152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400" b="1">
                <a:solidFill>
                  <a:srgbClr val="102017"/>
                </a:solidFill>
                <a:latin typeface="Aptos"/>
              </a:rPr>
              <a:t>52.6%</a:t>
            </a:r>
          </a:p>
        </p:txBody>
      </p:sp>
      <p:sp>
        <p:nvSpPr>
          <p:cNvPr id="1" name="Rectangle"/>
          <p:cNvSpPr/>
          <p:nvPr/>
        </p:nvSpPr>
        <p:spPr>
          <a:xfrm>
            <a:off x="7452360" y="1234440"/>
            <a:ext cx="3337560" cy="4480560"/>
          </a:xfrm>
          <a:prstGeom prst="rect">
            <a:avLst/>
          </a:prstGeom>
          <a:solidFill>
            <a:srgbClr val="EAF5EE"/>
          </a:solidFill>
          <a:ln w="12700">
            <a:solidFill>
              <a:srgbClr val="78D6A3"/>
            </a:solidFill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7726679" y="1600200"/>
            <a:ext cx="2788920" cy="33832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200" b="1">
                <a:solidFill>
                  <a:srgbClr val="102017"/>
                </a:solidFill>
                <a:latin typeface="Aptos"/>
              </a:rPr>
              <a:t>The SVM performs best on the held-out test set, improving about 20 percentage points over the dummy baseline.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800" b="1">
                <a:solidFill>
                  <a:srgbClr val="0B5D3B"/>
                </a:solidFill>
                <a:latin typeface="Aptos"/>
              </a:rPr>
              <a:t>Interactive Match Predictor</a:t>
            </a:r>
          </a:p>
        </p:txBody>
      </p:sp>
      <p:pic>
        <p:nvPicPr>
          <p:cNvPr id="4" name="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" y="1078992"/>
            <a:ext cx="7406640" cy="4983480"/>
          </a:xfrm>
          <a:prstGeom prst="rect">
            <a:avLst/>
          </a:prstGeom>
        </p:spPr>
      </p:pic>
      <p:sp>
        <p:nvSpPr>
          <p:cNvPr id="1" name="Rectangle"/>
          <p:cNvSpPr/>
          <p:nvPr/>
        </p:nvSpPr>
        <p:spPr>
          <a:xfrm>
            <a:off x="8275320" y="1078992"/>
            <a:ext cx="3200400" cy="4983480"/>
          </a:xfrm>
          <a:prstGeom prst="rect">
            <a:avLst/>
          </a:prstGeom>
          <a:solidFill>
            <a:srgbClr val="F7FBF6"/>
          </a:solidFill>
          <a:ln w="12700">
            <a:solidFill>
              <a:srgbClr val="C9DDD1"/>
            </a:solidFill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8503920" y="1417320"/>
            <a:ext cx="274320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00" b="1">
                <a:solidFill>
                  <a:srgbClr val="102017"/>
                </a:solidFill>
                <a:latin typeface="Aptos"/>
              </a:rPr>
              <a:t>The app lets users select two teams and generate real-time win probabilities from the saved model artifacts.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800" b="1">
                <a:solidFill>
                  <a:srgbClr val="0B5D3B"/>
                </a:solidFill>
                <a:latin typeface="Aptos"/>
              </a:rPr>
              <a:t>2026 World Cup Simulation</a:t>
            </a:r>
          </a:p>
        </p:txBody>
      </p:sp>
      <p:pic>
        <p:nvPicPr>
          <p:cNvPr id="4" name="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" y="1078992"/>
            <a:ext cx="7406640" cy="4983480"/>
          </a:xfrm>
          <a:prstGeom prst="rect">
            <a:avLst/>
          </a:prstGeom>
        </p:spPr>
      </p:pic>
      <p:sp>
        <p:nvSpPr>
          <p:cNvPr id="1" name="Rectangle"/>
          <p:cNvSpPr/>
          <p:nvPr/>
        </p:nvSpPr>
        <p:spPr>
          <a:xfrm>
            <a:off x="8275320" y="1078992"/>
            <a:ext cx="3200400" cy="4983480"/>
          </a:xfrm>
          <a:prstGeom prst="rect">
            <a:avLst/>
          </a:prstGeom>
          <a:solidFill>
            <a:srgbClr val="F7FBF6"/>
          </a:solidFill>
          <a:ln w="12700">
            <a:solidFill>
              <a:srgbClr val="C9DDD1"/>
            </a:solidFill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8503920" y="1417320"/>
            <a:ext cx="274320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00" b="1">
                <a:solidFill>
                  <a:srgbClr val="102017"/>
                </a:solidFill>
                <a:latin typeface="Aptos"/>
              </a:rPr>
              <a:t>The simulator runs repeated tournaments across the 48-team, 12-group format and summarizes advancement and champion probabilities.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800" b="1">
                <a:solidFill>
                  <a:srgbClr val="0B5D3B"/>
                </a:solidFill>
                <a:latin typeface="Aptos"/>
              </a:rPr>
              <a:t>Model Report Evidence</a:t>
            </a:r>
          </a:p>
        </p:txBody>
      </p:sp>
      <p:pic>
        <p:nvPicPr>
          <p:cNvPr id="4" name="Screenshot"/>
          <p:cNvPicPr/>
          <p:nvPr/>
        </p:nvPicPr>
        <p:blipFill>
          <a:blip r:embed="rId2"/>
          <a:stretch>
            <a:fillRect/>
          </a:stretch>
        </p:blipFill>
        <p:spPr>
          <a:xfrm>
            <a:off x="594360" y="1078992"/>
            <a:ext cx="7406640" cy="4983480"/>
          </a:xfrm>
          <a:prstGeom prst="rect">
            <a:avLst/>
          </a:prstGeom>
        </p:spPr>
      </p:pic>
      <p:sp>
        <p:nvSpPr>
          <p:cNvPr id="1" name="Rectangle"/>
          <p:cNvSpPr/>
          <p:nvPr/>
        </p:nvSpPr>
        <p:spPr>
          <a:xfrm>
            <a:off x="8275320" y="1078992"/>
            <a:ext cx="3200400" cy="4983480"/>
          </a:xfrm>
          <a:prstGeom prst="rect">
            <a:avLst/>
          </a:prstGeom>
          <a:solidFill>
            <a:srgbClr val="F7FBF6"/>
          </a:solidFill>
          <a:ln w="12700">
            <a:solidFill>
              <a:srgbClr val="C9DDD1"/>
            </a:solidFill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8503920" y="1417320"/>
            <a:ext cx="2743200" cy="42976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00" b="1">
                <a:solidFill>
                  <a:srgbClr val="102017"/>
                </a:solidFill>
                <a:latin typeface="Aptos"/>
              </a:rPr>
              <a:t>The report tab documents the full pipeline, model comparisons, confusion matrix, feature importance, and known data gaps.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94360" y="41148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3000" b="1">
                <a:solidFill>
                  <a:srgbClr val="0B5D3B"/>
                </a:solidFill>
                <a:latin typeface="Aptos"/>
              </a:rPr>
              <a:t>Conclusion</a:t>
            </a:r>
          </a:p>
        </p:txBody>
      </p:sp>
      <p:sp>
        <p:nvSpPr>
          <p:cNvPr id="1" name="Rectangle"/>
          <p:cNvSpPr/>
          <p:nvPr/>
        </p:nvSpPr>
        <p:spPr>
          <a:xfrm>
            <a:off x="594360" y="1143000"/>
            <a:ext cx="6446520" cy="4800600"/>
          </a:xfrm>
          <a:prstGeom prst="rect">
            <a:avLst/>
          </a:prstGeom>
          <a:solidFill>
            <a:srgbClr val="F7FBF6"/>
          </a:solidFill>
          <a:ln w="12700">
            <a:solidFill>
              <a:srgbClr val="C9DDD1"/>
            </a:solidFill>
          </a:ln>
        </p:spPr>
        <p:txBody>
          <a:bodyPr/>
          <a:lstStyle/>
          <a:p/>
        </p:txBody>
      </p:sp>
      <p:sp>
        <p:nvSpPr>
          <p:cNvPr id="3" name="Bullets"/>
          <p:cNvSpPr txBox="1"/>
          <p:nvPr/>
        </p:nvSpPr>
        <p:spPr>
          <a:xfrm>
            <a:off x="822960" y="1417320"/>
            <a:ext cx="5943600" cy="42519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The project now runs end to end from raw data to an interactive dashboard.</a:t>
            </a:r>
          </a:p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The model performs meaningfully better than baseline.</a:t>
            </a:r>
          </a:p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The 2026 simulation demonstrates how probability outputs can support tournament forecasting.</a:t>
            </a:r>
          </a:p>
          <a:p>
            <a:pPr marL="285750" indent="-171450">
              <a:buChar char="•"/>
            </a:pPr>
            <a:r>
              <a:rPr lang="en-US" sz="2000">
                <a:solidFill>
                  <a:srgbClr val="102017"/>
                </a:solidFill>
                <a:latin typeface="Aptos"/>
              </a:rPr>
              <a:t>Future work should add exact squad rosters and richer in-game match statistics.</a:t>
            </a:r>
          </a:p>
        </p:txBody>
      </p:sp>
      <p:sp>
        <p:nvSpPr>
          <p:cNvPr id="1" name="Rectangle"/>
          <p:cNvSpPr/>
          <p:nvPr/>
        </p:nvSpPr>
        <p:spPr>
          <a:xfrm>
            <a:off x="7543800" y="914400"/>
            <a:ext cx="3886200" cy="4892040"/>
          </a:xfrm>
          <a:prstGeom prst="rect">
            <a:avLst/>
          </a:prstGeom>
          <a:solidFill>
            <a:srgbClr val="EAF5EE"/>
          </a:solidFill>
          <a:ln w="12700">
            <a:solidFill>
              <a:srgbClr val="78D6A3"/>
            </a:solidFill>
          </a:ln>
        </p:spPr>
        <p:txBody>
          <a:bodyPr/>
          <a:lstStyle/>
          <a:p/>
        </p:txBody>
      </p:sp>
      <p:sp>
        <p:nvSpPr>
          <p:cNvPr id="2" name="Text"/>
          <p:cNvSpPr txBox="1"/>
          <p:nvPr/>
        </p:nvSpPr>
        <p:spPr>
          <a:xfrm>
            <a:off x="7818120" y="1143000"/>
            <a:ext cx="3383280" cy="448056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200" b="1">
                <a:solidFill>
                  <a:srgbClr val="102017"/>
                </a:solidFill>
                <a:latin typeface="Aptos"/>
              </a:rPr>
              <a:t>Final deliverables: code pipeline, Streamlit app, report draft, screenshots, and presentation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FA Predictor">
  <a:themeElements>
    <a:clrScheme name="FIFA">
      <a:dk1>
        <a:srgbClr val="102017"/>
      </a:dk1>
      <a:lt1>
        <a:srgbClr val="FFFFFF"/>
      </a:lt1>
      <a:dk2>
        <a:srgbClr val="0B5D3B"/>
      </a:dk2>
      <a:lt2>
        <a:srgbClr val="F7FBF6"/>
      </a:lt2>
      <a:accent1>
        <a:srgbClr val="0B5D3B"/>
      </a:accent1>
      <a:accent2>
        <a:srgbClr val="D6B35A"/>
      </a:accent2>
      <a:accent3>
        <a:srgbClr val="78D6A3"/>
      </a:accent3>
      <a:accent4>
        <a:srgbClr val="50675C"/>
      </a:accent4>
      <a:accent5>
        <a:srgbClr val="EAF5EE"/>
      </a:accent5>
      <a:accent6>
        <a:srgbClr val="07321F"/>
      </a:accent6>
      <a:hlink>
        <a:srgbClr val="0B5D3B"/>
      </a:hlink>
      <a:folHlink>
        <a:srgbClr val="50675C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